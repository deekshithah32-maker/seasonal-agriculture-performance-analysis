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2210FA-43F7-4410-A116-AF0EA7A61A9A}" v="144" dt="2026-09-09T17:12:07.72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bhuvana7@gmail.com" userId="160a4563733c6e30" providerId="LiveId" clId="{B71B9D8D-DC58-4D94-ADE1-E530CE35E10C}"/>
    <pc:docChg chg="custSel modSld">
      <pc:chgData name="tsbhuvana7@gmail.com" userId="160a4563733c6e30" providerId="LiveId" clId="{B71B9D8D-DC58-4D94-ADE1-E530CE35E10C}" dt="2026-09-09T17:14:31.878" v="172" actId="1076"/>
      <pc:docMkLst>
        <pc:docMk/>
      </pc:docMkLst>
      <pc:sldChg chg="modSp modAnim">
        <pc:chgData name="tsbhuvana7@gmail.com" userId="160a4563733c6e30" providerId="LiveId" clId="{B71B9D8D-DC58-4D94-ADE1-E530CE35E10C}" dt="2026-09-06T06:08:06.328" v="76" actId="2711"/>
        <pc:sldMkLst>
          <pc:docMk/>
          <pc:sldMk cId="1341901065" sldId="302"/>
        </pc:sldMkLst>
        <pc:spChg chg="mod">
          <ac:chgData name="tsbhuvana7@gmail.com" userId="160a4563733c6e30" providerId="LiveId" clId="{B71B9D8D-DC58-4D94-ADE1-E530CE35E10C}" dt="2026-09-06T06:08:06.328" v="76" actId="2711"/>
          <ac:spMkLst>
            <pc:docMk/>
            <pc:sldMk cId="1341901065" sldId="302"/>
            <ac:spMk id="7" creationId="{B21C28F5-3CA3-4B78-B5C9-550C00BB3174}"/>
          </ac:spMkLst>
        </pc:spChg>
      </pc:sldChg>
      <pc:sldChg chg="modSp">
        <pc:chgData name="tsbhuvana7@gmail.com" userId="160a4563733c6e30" providerId="LiveId" clId="{B71B9D8D-DC58-4D94-ADE1-E530CE35E10C}" dt="2026-09-06T06:53:32.413" v="111" actId="255"/>
        <pc:sldMkLst>
          <pc:docMk/>
          <pc:sldMk cId="3696770303" sldId="315"/>
        </pc:sldMkLst>
        <pc:spChg chg="mod">
          <ac:chgData name="tsbhuvana7@gmail.com" userId="160a4563733c6e30" providerId="LiveId" clId="{B71B9D8D-DC58-4D94-ADE1-E530CE35E10C}" dt="2026-09-06T06:53:32.413" v="111" actId="255"/>
          <ac:spMkLst>
            <pc:docMk/>
            <pc:sldMk cId="3696770303" sldId="315"/>
            <ac:spMk id="3" creationId="{EBF2FBC7-3552-4F01-BB27-8BEEE74F7277}"/>
          </ac:spMkLst>
        </pc:spChg>
      </pc:sldChg>
      <pc:sldChg chg="modSp modAnim">
        <pc:chgData name="tsbhuvana7@gmail.com" userId="160a4563733c6e30" providerId="LiveId" clId="{B71B9D8D-DC58-4D94-ADE1-E530CE35E10C}" dt="2026-09-06T06:53:04.057" v="110" actId="20577"/>
        <pc:sldMkLst>
          <pc:docMk/>
          <pc:sldMk cId="3098548442" sldId="327"/>
        </pc:sldMkLst>
        <pc:spChg chg="mod">
          <ac:chgData name="tsbhuvana7@gmail.com" userId="160a4563733c6e30" providerId="LiveId" clId="{B71B9D8D-DC58-4D94-ADE1-E530CE35E10C}" dt="2026-09-06T06:53:04.057" v="110" actId="20577"/>
          <ac:spMkLst>
            <pc:docMk/>
            <pc:sldMk cId="3098548442" sldId="327"/>
            <ac:spMk id="2" creationId="{E46E4DD1-270B-4C80-AFF0-EB26F132AF36}"/>
          </ac:spMkLst>
        </pc:spChg>
      </pc:sldChg>
      <pc:sldChg chg="modSp modAnim">
        <pc:chgData name="tsbhuvana7@gmail.com" userId="160a4563733c6e30" providerId="LiveId" clId="{B71B9D8D-DC58-4D94-ADE1-E530CE35E10C}" dt="2026-09-06T06:54:38.516" v="112" actId="255"/>
        <pc:sldMkLst>
          <pc:docMk/>
          <pc:sldMk cId="48075006" sldId="329"/>
        </pc:sldMkLst>
        <pc:spChg chg="mod">
          <ac:chgData name="tsbhuvana7@gmail.com" userId="160a4563733c6e30" providerId="LiveId" clId="{B71B9D8D-DC58-4D94-ADE1-E530CE35E10C}" dt="2026-09-06T06:54:38.516" v="112" actId="255"/>
          <ac:spMkLst>
            <pc:docMk/>
            <pc:sldMk cId="48075006" sldId="329"/>
            <ac:spMk id="2" creationId="{664E3B60-2780-459A-8583-F095D5E7463A}"/>
          </ac:spMkLst>
        </pc:spChg>
      </pc:sldChg>
      <pc:sldChg chg="modSp mod">
        <pc:chgData name="tsbhuvana7@gmail.com" userId="160a4563733c6e30" providerId="LiveId" clId="{B71B9D8D-DC58-4D94-ADE1-E530CE35E10C}" dt="2026-09-09T17:12:07.723" v="168"/>
        <pc:sldMkLst>
          <pc:docMk/>
          <pc:sldMk cId="1604013440" sldId="338"/>
        </pc:sldMkLst>
        <pc:spChg chg="mod">
          <ac:chgData name="tsbhuvana7@gmail.com" userId="160a4563733c6e30" providerId="LiveId" clId="{B71B9D8D-DC58-4D94-ADE1-E530CE35E10C}" dt="2026-09-09T17:11:44.567" v="141" actId="20577"/>
          <ac:spMkLst>
            <pc:docMk/>
            <pc:sldMk cId="1604013440" sldId="338"/>
            <ac:spMk id="2" creationId="{7201737A-B873-4D1D-8A41-5ABF5184BC8F}"/>
          </ac:spMkLst>
        </pc:spChg>
        <pc:spChg chg="mod">
          <ac:chgData name="tsbhuvana7@gmail.com" userId="160a4563733c6e30" providerId="LiveId" clId="{B71B9D8D-DC58-4D94-ADE1-E530CE35E10C}" dt="2026-09-09T17:12:07.723" v="168"/>
          <ac:spMkLst>
            <pc:docMk/>
            <pc:sldMk cId="1604013440" sldId="338"/>
            <ac:spMk id="3" creationId="{17F04107-8754-E47D-3375-529E689711FA}"/>
          </ac:spMkLst>
        </pc:spChg>
      </pc:sldChg>
      <pc:sldChg chg="addSp modSp">
        <pc:chgData name="tsbhuvana7@gmail.com" userId="160a4563733c6e30" providerId="LiveId" clId="{B71B9D8D-DC58-4D94-ADE1-E530CE35E10C}" dt="2026-09-06T06:45:19.588" v="102"/>
        <pc:sldMkLst>
          <pc:docMk/>
          <pc:sldMk cId="1086225493" sldId="339"/>
        </pc:sldMkLst>
        <pc:spChg chg="add mod">
          <ac:chgData name="tsbhuvana7@gmail.com" userId="160a4563733c6e30" providerId="LiveId" clId="{B71B9D8D-DC58-4D94-ADE1-E530CE35E10C}" dt="2026-09-06T06:45:19.588" v="102"/>
          <ac:spMkLst>
            <pc:docMk/>
            <pc:sldMk cId="1086225493" sldId="339"/>
            <ac:spMk id="14" creationId="{C80AC240-5247-430D-8954-4322771287CC}"/>
          </ac:spMkLst>
        </pc:spChg>
      </pc:sldChg>
      <pc:sldChg chg="addSp modSp modAnim">
        <pc:chgData name="tsbhuvana7@gmail.com" userId="160a4563733c6e30" providerId="LiveId" clId="{B71B9D8D-DC58-4D94-ADE1-E530CE35E10C}" dt="2026-09-06T06:44:04.859" v="100"/>
        <pc:sldMkLst>
          <pc:docMk/>
          <pc:sldMk cId="3849627828" sldId="340"/>
        </pc:sldMkLst>
        <pc:spChg chg="add mod">
          <ac:chgData name="tsbhuvana7@gmail.com" userId="160a4563733c6e30" providerId="LiveId" clId="{B71B9D8D-DC58-4D94-ADE1-E530CE35E10C}" dt="2026-09-06T06:44:04.859" v="100"/>
          <ac:spMkLst>
            <pc:docMk/>
            <pc:sldMk cId="3849627828" sldId="340"/>
            <ac:spMk id="6" creationId="{1CACF249-9D28-674D-25E1-8A1236499F23}"/>
          </ac:spMkLst>
        </pc:spChg>
      </pc:sldChg>
      <pc:sldChg chg="addSp delSp modSp">
        <pc:chgData name="tsbhuvana7@gmail.com" userId="160a4563733c6e30" providerId="LiveId" clId="{B71B9D8D-DC58-4D94-ADE1-E530CE35E10C}" dt="2026-09-06T06:12:24.707" v="90"/>
        <pc:sldMkLst>
          <pc:docMk/>
          <pc:sldMk cId="776828144" sldId="341"/>
        </pc:sldMkLst>
        <pc:spChg chg="mod">
          <ac:chgData name="tsbhuvana7@gmail.com" userId="160a4563733c6e30" providerId="LiveId" clId="{B71B9D8D-DC58-4D94-ADE1-E530CE35E10C}" dt="2026-09-06T06:10:58.097" v="84"/>
          <ac:spMkLst>
            <pc:docMk/>
            <pc:sldMk cId="776828144" sldId="341"/>
            <ac:spMk id="4" creationId="{9B097C2C-D75A-31D4-CD9F-366F39CDE51D}"/>
          </ac:spMkLst>
        </pc:spChg>
      </pc:sldChg>
      <pc:sldChg chg="addSp delSp modSp mod">
        <pc:chgData name="tsbhuvana7@gmail.com" userId="160a4563733c6e30" providerId="LiveId" clId="{B71B9D8D-DC58-4D94-ADE1-E530CE35E10C}" dt="2026-09-06T07:39:01.821" v="116" actId="2711"/>
        <pc:sldMkLst>
          <pc:docMk/>
          <pc:sldMk cId="3863610428" sldId="342"/>
        </pc:sldMkLst>
        <pc:spChg chg="add mod">
          <ac:chgData name="tsbhuvana7@gmail.com" userId="160a4563733c6e30" providerId="LiveId" clId="{B71B9D8D-DC58-4D94-ADE1-E530CE35E10C}" dt="2026-09-06T07:39:01.821" v="116" actId="2711"/>
          <ac:spMkLst>
            <pc:docMk/>
            <pc:sldMk cId="3863610428" sldId="342"/>
            <ac:spMk id="2" creationId="{ED6200DD-1C4D-F718-DDE1-E36370D7C165}"/>
          </ac:spMkLst>
        </pc:spChg>
      </pc:sldChg>
      <pc:sldChg chg="addSp delSp modSp mod">
        <pc:chgData name="tsbhuvana7@gmail.com" userId="160a4563733c6e30" providerId="LiveId" clId="{B71B9D8D-DC58-4D94-ADE1-E530CE35E10C}" dt="2026-09-09T17:14:31.878" v="172" actId="1076"/>
        <pc:sldMkLst>
          <pc:docMk/>
          <pc:sldMk cId="3962802212" sldId="343"/>
        </pc:sldMkLst>
        <pc:picChg chg="del">
          <ac:chgData name="tsbhuvana7@gmail.com" userId="160a4563733c6e30" providerId="LiveId" clId="{B71B9D8D-DC58-4D94-ADE1-E530CE35E10C}" dt="2026-09-09T17:13:10.655" v="169" actId="478"/>
          <ac:picMkLst>
            <pc:docMk/>
            <pc:sldMk cId="3962802212" sldId="343"/>
            <ac:picMk id="3" creationId="{699135A4-5254-FD22-2DA6-A3C8803FEC8B}"/>
          </ac:picMkLst>
        </pc:picChg>
        <pc:picChg chg="add mod">
          <ac:chgData name="tsbhuvana7@gmail.com" userId="160a4563733c6e30" providerId="LiveId" clId="{B71B9D8D-DC58-4D94-ADE1-E530CE35E10C}" dt="2026-09-09T17:14:31.878" v="172" actId="1076"/>
          <ac:picMkLst>
            <pc:docMk/>
            <pc:sldMk cId="3962802212" sldId="343"/>
            <ac:picMk id="6" creationId="{E6084694-0803-603C-87FC-96FACB160524}"/>
          </ac:picMkLst>
        </pc:picChg>
      </pc:sldChg>
      <pc:sldChg chg="addSp modSp modAnim">
        <pc:chgData name="tsbhuvana7@gmail.com" userId="160a4563733c6e30" providerId="LiveId" clId="{B71B9D8D-DC58-4D94-ADE1-E530CE35E10C}" dt="2026-09-06T06:46:48.540" v="104"/>
        <pc:sldMkLst>
          <pc:docMk/>
          <pc:sldMk cId="1698901770" sldId="344"/>
        </pc:sldMkLst>
        <pc:spChg chg="add mod">
          <ac:chgData name="tsbhuvana7@gmail.com" userId="160a4563733c6e30" providerId="LiveId" clId="{B71B9D8D-DC58-4D94-ADE1-E530CE35E10C}" dt="2026-09-06T06:46:48.540" v="104"/>
          <ac:spMkLst>
            <pc:docMk/>
            <pc:sldMk cId="1698901770" sldId="344"/>
            <ac:spMk id="11" creationId="{07BBE987-70AD-5818-505E-F0C35365F696}"/>
          </ac:spMkLst>
        </pc:spChg>
      </pc:sldChg>
      <pc:sldChg chg="addSp modSp modAnim">
        <pc:chgData name="tsbhuvana7@gmail.com" userId="160a4563733c6e30" providerId="LiveId" clId="{B71B9D8D-DC58-4D94-ADE1-E530CE35E10C}" dt="2026-09-06T06:47:40.043" v="106"/>
        <pc:sldMkLst>
          <pc:docMk/>
          <pc:sldMk cId="1903979828" sldId="345"/>
        </pc:sldMkLst>
        <pc:spChg chg="add mod">
          <ac:chgData name="tsbhuvana7@gmail.com" userId="160a4563733c6e30" providerId="LiveId" clId="{B71B9D8D-DC58-4D94-ADE1-E530CE35E10C}" dt="2026-09-06T06:47:40.043" v="106"/>
          <ac:spMkLst>
            <pc:docMk/>
            <pc:sldMk cId="1903979828" sldId="345"/>
            <ac:spMk id="6" creationId="{A4DF7250-2BDD-2D45-A4B3-9FA0BD543895}"/>
          </ac:spMkLst>
        </pc:spChg>
      </pc:sldChg>
      <pc:sldChg chg="addSp modSp modAnim">
        <pc:chgData name="tsbhuvana7@gmail.com" userId="160a4563733c6e30" providerId="LiveId" clId="{B71B9D8D-DC58-4D94-ADE1-E530CE35E10C}" dt="2026-09-06T06:48:46.299" v="108"/>
        <pc:sldMkLst>
          <pc:docMk/>
          <pc:sldMk cId="1421522261" sldId="346"/>
        </pc:sldMkLst>
        <pc:spChg chg="add mod">
          <ac:chgData name="tsbhuvana7@gmail.com" userId="160a4563733c6e30" providerId="LiveId" clId="{B71B9D8D-DC58-4D94-ADE1-E530CE35E10C}" dt="2026-09-06T06:48:46.299" v="108"/>
          <ac:spMkLst>
            <pc:docMk/>
            <pc:sldMk cId="1421522261" sldId="346"/>
            <ac:spMk id="6" creationId="{D92B9B6B-6FE1-3870-893F-89717AD567F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83771" y="3809260"/>
            <a:ext cx="3400089" cy="861497"/>
          </a:xfrm>
        </p:spPr>
        <p:txBody>
          <a:bodyPr vert="horz" lIns="91440" tIns="45720" rIns="91440" bIns="45720" rtlCol="0" anchor="t">
            <a:normAutofit fontScale="85000" lnSpcReduction="10000"/>
          </a:bodyPr>
          <a:lstStyle/>
          <a:p>
            <a:r>
              <a:rPr lang="en-US" b="0" dirty="0">
                <a:solidFill>
                  <a:schemeClr val="tx1"/>
                </a:solidFill>
              </a:rPr>
              <a:t>Deekshitha H R </a:t>
            </a:r>
            <a:endParaRPr lang="en-IN" b="0" dirty="0">
              <a:solidFill>
                <a:schemeClr val="tx1"/>
              </a:solidFill>
            </a:endParaRPr>
          </a:p>
          <a:p>
            <a:r>
              <a:rPr lang="en-US" b="0" dirty="0">
                <a:solidFill>
                  <a:schemeClr val="tx1"/>
                </a:solidFill>
              </a:rPr>
              <a:t>East West College of Engineering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685552"/>
            <a:ext cx="4998720" cy="969946"/>
          </a:xfrm>
        </p:spPr>
        <p:txBody>
          <a:bodyPr>
            <a:normAutofit fontScale="90000"/>
          </a:bodyPr>
          <a:lstStyle/>
          <a:p>
            <a:r>
              <a:rPr lang="en-GB" sz="3200" dirty="0">
                <a:latin typeface="Times New Roman" panose="02020603050405020304" pitchFamily="18" charset="0"/>
                <a:cs typeface="Times New Roman" panose="02020603050405020304" pitchFamily="18" charset="0"/>
              </a:rPr>
              <a:t>Project Title - </a:t>
            </a:r>
            <a:r>
              <a:rPr lang="en-IN" dirty="0">
                <a:latin typeface="Times New Roman" panose="02020603050405020304" pitchFamily="18" charset="0"/>
                <a:cs typeface="Times New Roman" panose="02020603050405020304" pitchFamily="18" charset="0"/>
              </a:rPr>
              <a:t>Seasonal Agriculture Performance Analysis</a:t>
            </a:r>
            <a:br>
              <a:rPr lang="en-IN" dirty="0"/>
            </a:br>
            <a:br>
              <a:rPr lang="en-IN"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83771" y="4824519"/>
            <a:ext cx="3176362" cy="923330"/>
          </a:xfrm>
          <a:prstGeom prst="rect">
            <a:avLst/>
          </a:prstGeom>
          <a:noFill/>
        </p:spPr>
        <p:txBody>
          <a:bodyPr wrap="square" rtlCol="0">
            <a:spAutoFit/>
          </a:bodyPr>
          <a:lstStyle/>
          <a:p>
            <a:r>
              <a:rPr lang="en-US" b="1" dirty="0"/>
              <a:t>AICTE STU ID: STU6a697faea39e81785298862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58652" y="1548985"/>
            <a:ext cx="6431280" cy="3607987"/>
          </a:xfrm>
        </p:spPr>
        <p:txBody>
          <a:bodyPr vert="horz" lIns="91440" tIns="45720" rIns="91440" bIns="45720" rtlCol="0" anchor="t">
            <a:normAutofit fontScale="77500" lnSpcReduction="20000"/>
          </a:bodyPr>
          <a:lstStyle/>
          <a:p>
            <a:pPr marL="0" indent="0">
              <a:lnSpc>
                <a:spcPct val="100000"/>
              </a:lnSpc>
              <a:buNone/>
            </a:pPr>
            <a:r>
              <a:rPr lang="en-US" sz="2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a:t>
            </a:r>
          </a:p>
          <a:p>
            <a:pPr marL="0" indent="0">
              <a:lnSpc>
                <a:spcPct val="100000"/>
              </a:lnSpc>
              <a:buNone/>
            </a:pPr>
            <a:r>
              <a:rPr lang="en-US" sz="2800" dirty="0">
                <a:latin typeface="Times New Roman" panose="02020603050405020304" pitchFamily="18" charset="0"/>
                <a:cs typeface="Times New Roman" panose="02020603050405020304" pitchFamily="18" charset="0"/>
              </a:rPr>
              <a:t>The problem is to analyze the given agricultural dataset and investigate seasonal differences in agricultural performance by identifying meaningful patterns, trends, relationships and variations within the available data.</a:t>
            </a:r>
            <a:endParaRPr lang="en-IN" sz="2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558659" y="625062"/>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469311"/>
            <a:ext cx="6276109" cy="5605248"/>
          </a:xfrm>
        </p:spPr>
        <p:txBody>
          <a:bodyPr>
            <a:normAutofit/>
          </a:bodyPr>
          <a:lstStyle/>
          <a:p>
            <a:r>
              <a:rPr lang="en-GB" dirty="0"/>
              <a:t>Project Description</a:t>
            </a:r>
            <a:br>
              <a:rPr lang="en-GB" dirty="0"/>
            </a:br>
            <a:br>
              <a:rPr lang="en-GB" dirty="0"/>
            </a:br>
            <a:r>
              <a:rPr lang="en-US" sz="2200" b="0" dirty="0">
                <a:latin typeface="Times New Roman" panose="02020603050405020304" pitchFamily="18" charset="0"/>
                <a:cs typeface="Times New Roman" panose="02020603050405020304" pitchFamily="18" charset="0"/>
              </a:rPr>
              <a:t>This project looks at how agriculture performs in different seasons. It uses data about crops, farming activities, weather conditions, resource use, and profit to understand what changes from one season to another. By analyzing the data, we identify important patterns and differences in crop performance and use these findings to give useful suggestions for better agricultural planning.</a:t>
            </a:r>
            <a:br>
              <a:rPr lang="en-GB" sz="2400" dirty="0"/>
            </a:br>
            <a:endParaRPr lang="en-IN" sz="2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170853" y="1082099"/>
            <a:ext cx="7904481" cy="3990023"/>
          </a:xfrm>
        </p:spPr>
        <p:txBody>
          <a:bodyPr>
            <a:noAutofit/>
          </a:bodyPr>
          <a:lstStyle/>
          <a:p>
            <a:pPr algn="just">
              <a:lnSpc>
                <a:spcPct val="150000"/>
              </a:lnSpc>
            </a:pPr>
            <a:r>
              <a:rPr lang="en-US" sz="2200" dirty="0">
                <a:latin typeface="Times New Roman" panose="02020603050405020304" pitchFamily="18" charset="0"/>
                <a:cs typeface="Times New Roman" panose="02020603050405020304" pitchFamily="18" charset="0"/>
              </a:rPr>
              <a:t>Farmers – to understand which seasons and farming conditions give better results.</a:t>
            </a:r>
          </a:p>
          <a:p>
            <a:pPr algn="just">
              <a:lnSpc>
                <a:spcPct val="150000"/>
              </a:lnSpc>
            </a:pPr>
            <a:r>
              <a:rPr lang="en-US" sz="2200" dirty="0">
                <a:latin typeface="Times New Roman" panose="02020603050405020304" pitchFamily="18" charset="0"/>
                <a:cs typeface="Times New Roman" panose="02020603050405020304" pitchFamily="18" charset="0"/>
              </a:rPr>
              <a:t>Agricultural planners – to plan farming activities based on seasonal patterns.</a:t>
            </a:r>
          </a:p>
          <a:p>
            <a:pPr algn="just">
              <a:lnSpc>
                <a:spcPct val="150000"/>
              </a:lnSpc>
            </a:pPr>
            <a:r>
              <a:rPr lang="en-US" sz="2200" dirty="0">
                <a:latin typeface="Times New Roman" panose="02020603050405020304" pitchFamily="18" charset="0"/>
                <a:cs typeface="Times New Roman" panose="02020603050405020304" pitchFamily="18" charset="0"/>
              </a:rPr>
              <a:t>Agricultural officers and decision-makers – to use data-based findings for better agricultural planning.</a:t>
            </a:r>
          </a:p>
          <a:p>
            <a:pPr algn="just">
              <a:lnSpc>
                <a:spcPct val="150000"/>
              </a:lnSpc>
            </a:pPr>
            <a:r>
              <a:rPr lang="en-US" sz="2200" dirty="0">
                <a:latin typeface="Times New Roman" panose="02020603050405020304" pitchFamily="18" charset="0"/>
                <a:cs typeface="Times New Roman" panose="02020603050405020304" pitchFamily="18" charset="0"/>
              </a:rPr>
              <a:t>Researchers and students – to study seasonal trends and relationships in agricultural data.</a:t>
            </a:r>
            <a:endParaRPr lang="en-IN" sz="22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256114" y="369094"/>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71956" y="1315059"/>
            <a:ext cx="9027702" cy="5243448"/>
          </a:xfrm>
        </p:spPr>
        <p:txBody>
          <a:bodyPr>
            <a:normAutofit/>
          </a:bodyPr>
          <a:lstStyle/>
          <a:p>
            <a:pPr lvl="1">
              <a:lnSpc>
                <a:spcPct val="100000"/>
              </a:lnSpc>
            </a:pPr>
            <a:r>
              <a:rPr lang="en-US" sz="2200" dirty="0">
                <a:latin typeface="Times New Roman" panose="02020603050405020304" pitchFamily="18" charset="0"/>
                <a:cs typeface="Times New Roman" panose="02020603050405020304" pitchFamily="18" charset="0"/>
              </a:rPr>
              <a:t>Python – Used to perform the overall data analysis.</a:t>
            </a:r>
          </a:p>
          <a:p>
            <a:pPr lvl="1">
              <a:lnSpc>
                <a:spcPct val="100000"/>
              </a:lnSpc>
            </a:pPr>
            <a:r>
              <a:rPr lang="en-US" sz="2200" dirty="0">
                <a:latin typeface="Times New Roman" panose="02020603050405020304" pitchFamily="18" charset="0"/>
                <a:cs typeface="Times New Roman" panose="02020603050405020304" pitchFamily="18" charset="0"/>
              </a:rPr>
              <a:t>Pandas – Used to load, clean, and organize the dataset.</a:t>
            </a:r>
          </a:p>
          <a:p>
            <a:pPr lvl="1">
              <a:lnSpc>
                <a:spcPct val="100000"/>
              </a:lnSpc>
            </a:pPr>
            <a:r>
              <a:rPr lang="en-US" sz="2200" dirty="0">
                <a:latin typeface="Times New Roman" panose="02020603050405020304" pitchFamily="18" charset="0"/>
                <a:cs typeface="Times New Roman" panose="02020603050405020304" pitchFamily="18" charset="0"/>
              </a:rPr>
              <a:t>NumPy – Used for numerical calculations and data processing.</a:t>
            </a:r>
          </a:p>
          <a:p>
            <a:pPr lvl="1">
              <a:lnSpc>
                <a:spcPct val="100000"/>
              </a:lnSpc>
            </a:pPr>
            <a:r>
              <a:rPr lang="en-US" sz="2200" dirty="0">
                <a:latin typeface="Times New Roman" panose="02020603050405020304" pitchFamily="18" charset="0"/>
                <a:cs typeface="Times New Roman" panose="02020603050405020304" pitchFamily="18" charset="0"/>
              </a:rPr>
              <a:t>Matplotlib – Used to create graphs and charts.</a:t>
            </a:r>
          </a:p>
          <a:p>
            <a:pPr lvl="1">
              <a:lnSpc>
                <a:spcPct val="100000"/>
              </a:lnSpc>
            </a:pPr>
            <a:r>
              <a:rPr lang="en-US" sz="2200" dirty="0">
                <a:latin typeface="Times New Roman" panose="02020603050405020304" pitchFamily="18" charset="0"/>
                <a:cs typeface="Times New Roman" panose="02020603050405020304" pitchFamily="18" charset="0"/>
              </a:rPr>
              <a:t>Seaborn – Used to create clear and attractive visualizations.</a:t>
            </a:r>
          </a:p>
          <a:p>
            <a:pPr lvl="1">
              <a:lnSpc>
                <a:spcPct val="100000"/>
              </a:lnSpc>
            </a:pPr>
            <a:r>
              <a:rPr lang="en-US" sz="2200" dirty="0">
                <a:latin typeface="Times New Roman" panose="02020603050405020304" pitchFamily="18" charset="0"/>
                <a:cs typeface="Times New Roman" panose="02020603050405020304" pitchFamily="18" charset="0"/>
              </a:rPr>
              <a:t>SciPy – Used for statistical analysis and testing.</a:t>
            </a:r>
            <a:endParaRPr lang="en-IN" sz="220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15C8ACC0-AB68-518A-A5D9-F4901E88F358}"/>
              </a:ext>
            </a:extLst>
          </p:cNvPr>
          <p:cNvPicPr>
            <a:picLocks noChangeAspect="1"/>
          </p:cNvPicPr>
          <p:nvPr/>
        </p:nvPicPr>
        <p:blipFill>
          <a:blip r:embed="rId3"/>
          <a:stretch>
            <a:fillRect/>
          </a:stretch>
        </p:blipFill>
        <p:spPr>
          <a:xfrm>
            <a:off x="544917" y="1348272"/>
            <a:ext cx="6770283" cy="3146581"/>
          </a:xfrm>
          <a:prstGeom prst="rect">
            <a:avLst/>
          </a:prstGeom>
        </p:spPr>
      </p:pic>
      <p:sp>
        <p:nvSpPr>
          <p:cNvPr id="14" name="TextBox 13">
            <a:extLst>
              <a:ext uri="{FF2B5EF4-FFF2-40B4-BE49-F238E27FC236}">
                <a16:creationId xmlns:a16="http://schemas.microsoft.com/office/drawing/2014/main" id="{C80AC240-5247-430D-8954-4322771287CC}"/>
              </a:ext>
            </a:extLst>
          </p:cNvPr>
          <p:cNvSpPr txBox="1"/>
          <p:nvPr/>
        </p:nvSpPr>
        <p:spPr>
          <a:xfrm>
            <a:off x="721396" y="4494853"/>
            <a:ext cx="6417323" cy="1200329"/>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Average Profit by Crop</a:t>
            </a:r>
          </a:p>
          <a:p>
            <a:pPr algn="just"/>
            <a:r>
              <a:rPr lang="en-US" dirty="0">
                <a:latin typeface="Times New Roman" panose="02020603050405020304" pitchFamily="18" charset="0"/>
                <a:cs typeface="Times New Roman" panose="02020603050405020304" pitchFamily="18" charset="0"/>
              </a:rPr>
              <a:t>The graph shows that Sugarcane and Chilli have the highest average profits among the crops. In comparison, Maize, Rice, and Wheat have negative average profits in the dataset.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9B43A14-CE14-FBBE-D3A5-0F36D453AAB3}"/>
              </a:ext>
            </a:extLst>
          </p:cNvPr>
          <p:cNvPicPr>
            <a:picLocks noChangeAspect="1"/>
          </p:cNvPicPr>
          <p:nvPr/>
        </p:nvPicPr>
        <p:blipFill>
          <a:blip r:embed="rId3"/>
          <a:stretch>
            <a:fillRect/>
          </a:stretch>
        </p:blipFill>
        <p:spPr>
          <a:xfrm>
            <a:off x="320982" y="1275371"/>
            <a:ext cx="5848125" cy="3378070"/>
          </a:xfrm>
          <a:prstGeom prst="rect">
            <a:avLst/>
          </a:prstGeom>
        </p:spPr>
      </p:pic>
      <p:sp>
        <p:nvSpPr>
          <p:cNvPr id="6" name="TextBox 5">
            <a:extLst>
              <a:ext uri="{FF2B5EF4-FFF2-40B4-BE49-F238E27FC236}">
                <a16:creationId xmlns:a16="http://schemas.microsoft.com/office/drawing/2014/main" id="{1CACF249-9D28-674D-25E1-8A1236499F23}"/>
              </a:ext>
            </a:extLst>
          </p:cNvPr>
          <p:cNvSpPr txBox="1"/>
          <p:nvPr/>
        </p:nvSpPr>
        <p:spPr>
          <a:xfrm>
            <a:off x="320982" y="4727226"/>
            <a:ext cx="7619369" cy="1200329"/>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Average Yield Across Seasons</a:t>
            </a:r>
          </a:p>
          <a:p>
            <a:pPr algn="just"/>
            <a:r>
              <a:rPr lang="en-US" dirty="0">
                <a:latin typeface="Times New Roman" panose="02020603050405020304" pitchFamily="18" charset="0"/>
                <a:cs typeface="Times New Roman" panose="02020603050405020304" pitchFamily="18" charset="0"/>
              </a:rPr>
              <a:t>The graph shows that Kharif has the highest average yield, followed by Rabi and Zaid. This indicates that crop production is generally better during the Kharif season.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13316D82-716B-B6E2-B587-2E06C9ED3C79}"/>
              </a:ext>
            </a:extLst>
          </p:cNvPr>
          <p:cNvPicPr>
            <a:picLocks noChangeAspect="1"/>
          </p:cNvPicPr>
          <p:nvPr/>
        </p:nvPicPr>
        <p:blipFill>
          <a:blip r:embed="rId3"/>
          <a:stretch>
            <a:fillRect/>
          </a:stretch>
        </p:blipFill>
        <p:spPr>
          <a:xfrm>
            <a:off x="609891" y="1275371"/>
            <a:ext cx="6714640" cy="3484859"/>
          </a:xfrm>
          <a:prstGeom prst="rect">
            <a:avLst/>
          </a:prstGeom>
        </p:spPr>
      </p:pic>
      <p:sp>
        <p:nvSpPr>
          <p:cNvPr id="11" name="TextBox 10">
            <a:extLst>
              <a:ext uri="{FF2B5EF4-FFF2-40B4-BE49-F238E27FC236}">
                <a16:creationId xmlns:a16="http://schemas.microsoft.com/office/drawing/2014/main" id="{07BBE987-70AD-5818-505E-F0C35365F696}"/>
              </a:ext>
            </a:extLst>
          </p:cNvPr>
          <p:cNvSpPr txBox="1"/>
          <p:nvPr/>
        </p:nvSpPr>
        <p:spPr>
          <a:xfrm>
            <a:off x="675957" y="5015910"/>
            <a:ext cx="7207315"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Profit Distribution Across Seasons</a:t>
            </a:r>
          </a:p>
          <a:p>
            <a:r>
              <a:rPr lang="en-US" dirty="0">
                <a:latin typeface="Times New Roman" panose="02020603050405020304" pitchFamily="18" charset="0"/>
                <a:cs typeface="Times New Roman" panose="02020603050405020304" pitchFamily="18" charset="0"/>
              </a:rPr>
              <a:t>The graph shows that Kharif has better profit performance overall, while Zaid has lower profits. It also shows some high and low profit values, indicating variation among farms.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A58E3C5-8F67-83F8-1047-920D245DF760}"/>
              </a:ext>
            </a:extLst>
          </p:cNvPr>
          <p:cNvPicPr>
            <a:picLocks noChangeAspect="1"/>
          </p:cNvPicPr>
          <p:nvPr/>
        </p:nvPicPr>
        <p:blipFill>
          <a:blip r:embed="rId3"/>
          <a:stretch>
            <a:fillRect/>
          </a:stretch>
        </p:blipFill>
        <p:spPr>
          <a:xfrm>
            <a:off x="645594" y="1201586"/>
            <a:ext cx="6679480" cy="3541647"/>
          </a:xfrm>
          <a:prstGeom prst="rect">
            <a:avLst/>
          </a:prstGeom>
        </p:spPr>
      </p:pic>
      <p:sp>
        <p:nvSpPr>
          <p:cNvPr id="6" name="TextBox 5">
            <a:extLst>
              <a:ext uri="{FF2B5EF4-FFF2-40B4-BE49-F238E27FC236}">
                <a16:creationId xmlns:a16="http://schemas.microsoft.com/office/drawing/2014/main" id="{A4DF7250-2BDD-2D45-A4B3-9FA0BD543895}"/>
              </a:ext>
            </a:extLst>
          </p:cNvPr>
          <p:cNvSpPr txBox="1"/>
          <p:nvPr/>
        </p:nvSpPr>
        <p:spPr>
          <a:xfrm>
            <a:off x="941084" y="4817018"/>
            <a:ext cx="6748171"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Rainfall vs Yield</a:t>
            </a:r>
          </a:p>
          <a:p>
            <a:r>
              <a:rPr lang="en-US" dirty="0">
                <a:latin typeface="Times New Roman" panose="02020603050405020304" pitchFamily="18" charset="0"/>
                <a:cs typeface="Times New Roman" panose="02020603050405020304" pitchFamily="18" charset="0"/>
              </a:rPr>
              <a:t>The scatter plot shows the relationship between rainfall and crop yield. The points indicate that rainfall alone does not determine yield, as yield varies considerably at different rainfall levels.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5BBEBCE-BFF0-1F56-24F1-8AC21D15A50F}"/>
              </a:ext>
            </a:extLst>
          </p:cNvPr>
          <p:cNvPicPr>
            <a:picLocks noChangeAspect="1"/>
          </p:cNvPicPr>
          <p:nvPr/>
        </p:nvPicPr>
        <p:blipFill>
          <a:blip r:embed="rId3"/>
          <a:stretch>
            <a:fillRect/>
          </a:stretch>
        </p:blipFill>
        <p:spPr>
          <a:xfrm>
            <a:off x="417993" y="1201586"/>
            <a:ext cx="6645280" cy="3525416"/>
          </a:xfrm>
          <a:prstGeom prst="rect">
            <a:avLst/>
          </a:prstGeom>
        </p:spPr>
      </p:pic>
      <p:sp>
        <p:nvSpPr>
          <p:cNvPr id="6" name="TextBox 5">
            <a:extLst>
              <a:ext uri="{FF2B5EF4-FFF2-40B4-BE49-F238E27FC236}">
                <a16:creationId xmlns:a16="http://schemas.microsoft.com/office/drawing/2014/main" id="{D92B9B6B-6FE1-3870-893F-89717AD567F7}"/>
              </a:ext>
            </a:extLst>
          </p:cNvPr>
          <p:cNvSpPr txBox="1"/>
          <p:nvPr/>
        </p:nvSpPr>
        <p:spPr>
          <a:xfrm>
            <a:off x="559838" y="4999296"/>
            <a:ext cx="7252024"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Average Yield by Season and Irrigation Method</a:t>
            </a:r>
          </a:p>
          <a:p>
            <a:r>
              <a:rPr lang="en-US" dirty="0">
                <a:latin typeface="Times New Roman" panose="02020603050405020304" pitchFamily="18" charset="0"/>
                <a:cs typeface="Times New Roman" panose="02020603050405020304" pitchFamily="18" charset="0"/>
              </a:rPr>
              <a:t>The graph compares different irrigation methods across seasons. Drip irrigation generally gives high yields, while the best-performing irrigation method can vary depending on the season.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5771496" cy="739754"/>
          </a:xfrm>
        </p:spPr>
        <p:txBody>
          <a:bodyPr>
            <a:normAutofit fontScale="90000"/>
          </a:bodyPr>
          <a:lstStyle/>
          <a:p>
            <a:r>
              <a:rPr lang="en-IN" sz="4000" dirty="0"/>
              <a:t>Future scope</a:t>
            </a:r>
            <a:br>
              <a:rPr lang="en-IN" sz="4000" dirty="0"/>
            </a:br>
            <a:endParaRPr lang="en-IN" sz="40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5949189" cy="510676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Box 9">
            <a:extLst>
              <a:ext uri="{FF2B5EF4-FFF2-40B4-BE49-F238E27FC236}">
                <a16:creationId xmlns:a16="http://schemas.microsoft.com/office/drawing/2014/main" id="{372BC6B0-FFB9-4D67-DCD9-0EEB13F41D0C}"/>
              </a:ext>
            </a:extLst>
          </p:cNvPr>
          <p:cNvSpPr txBox="1"/>
          <p:nvPr/>
        </p:nvSpPr>
        <p:spPr>
          <a:xfrm>
            <a:off x="510595" y="1302550"/>
            <a:ext cx="6102220" cy="4154984"/>
          </a:xfrm>
          <a:prstGeom prst="rect">
            <a:avLst/>
          </a:prstGeom>
          <a:noFill/>
        </p:spPr>
        <p:txBody>
          <a:bodyPr wrap="square">
            <a:spAutoFit/>
          </a:bodyPr>
          <a:lstStyle/>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project can be extended by using more agricultural data from different regions and years.</a:t>
            </a:r>
          </a:p>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More environmental factors such as soil quality, weather conditions, and rainfall can be studied.</a:t>
            </a:r>
          </a:p>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analysis can be improved by adding real-time agricultural data.</a:t>
            </a:r>
          </a:p>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Future work can include predicting crop yield and profit for different seasons.</a:t>
            </a:r>
          </a:p>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 simple dashboard or application can be developed to help farmers understand the results.</a:t>
            </a:r>
          </a:p>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project can be updated regularly to support better seasonal farming decisions.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D6200DD-1C4D-F718-DDE1-E36370D7C165}"/>
              </a:ext>
            </a:extLst>
          </p:cNvPr>
          <p:cNvSpPr txBox="1"/>
          <p:nvPr/>
        </p:nvSpPr>
        <p:spPr>
          <a:xfrm>
            <a:off x="410546" y="1201586"/>
            <a:ext cx="7874976"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https://github.com/BHUVANA-TS/Seasonal-Agriculture-Performance-Analysis.git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E6084694-0803-603C-87FC-96FACB160524}"/>
              </a:ext>
            </a:extLst>
          </p:cNvPr>
          <p:cNvPicPr>
            <a:picLocks noChangeAspect="1"/>
          </p:cNvPicPr>
          <p:nvPr/>
        </p:nvPicPr>
        <p:blipFill>
          <a:blip r:embed="rId3"/>
          <a:stretch>
            <a:fillRect/>
          </a:stretch>
        </p:blipFill>
        <p:spPr>
          <a:xfrm>
            <a:off x="675957" y="1408923"/>
            <a:ext cx="6955335" cy="491655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08942" y="871635"/>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1454</TotalTime>
  <Words>605</Words>
  <Application>Microsoft Office PowerPoint</Application>
  <PresentationFormat>Widescreen</PresentationFormat>
  <Paragraphs>49</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 Seasonal Agriculture Performance Analysis  </vt:lpstr>
      <vt:lpstr>PROBLEM  STATEMENT</vt:lpstr>
      <vt:lpstr>Project Description  This project looks at how agriculture performs in different seasons. It uses data about crops, farming activities, weather conditions, resource use, and profit to understand what changes from one season to another. By analyzing the data, we identify important patterns and differences in crop performance and use these findings to give useful suggestions for better agricultural planning. </vt:lpstr>
      <vt:lpstr>WHO ARE THE END USERS?</vt:lpstr>
      <vt:lpstr>Technology Used</vt:lpstr>
      <vt:lpstr>RESULTS </vt:lpstr>
      <vt:lpstr>RESULTS </vt:lpstr>
      <vt:lpstr>RESULTS </vt:lpstr>
      <vt:lpstr>RESULTS </vt:lpstr>
      <vt:lpstr>RESULTS </vt:lpstr>
      <vt:lpstr>Future scope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tsbhuvana7@gmail.com</cp:lastModifiedBy>
  <cp:revision>99</cp:revision>
  <dcterms:created xsi:type="dcterms:W3CDTF">2021-07-11T13:13:15Z</dcterms:created>
  <dcterms:modified xsi:type="dcterms:W3CDTF">2026-09-09T17:14:32Z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